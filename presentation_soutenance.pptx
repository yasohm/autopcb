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Excel Data Converter - AutoPCB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Automatisation du traitement de données Excel</a:t>
            </a:r>
          </a:p>
          <a:p/>
          <a:p>
            <a:r>
              <a:t>Soutenance de Stage</a:t>
            </a:r>
          </a:p>
          <a:p>
            <a:r>
              <a:t>[Votre Nom]</a:t>
            </a:r>
          </a:p>
          <a:p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📋 Plan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Introduction et contexte</a:t>
            </a:r>
          </a:p>
          <a:p>
            <a:pPr>
              <a:spcAft>
                <a:spcPts val="1200"/>
              </a:spcAft>
              <a:defRPr sz="1800"/>
            </a:pPr>
            <a:r>
              <a:t>2. Problématique</a:t>
            </a:r>
          </a:p>
          <a:p>
            <a:pPr>
              <a:spcAft>
                <a:spcPts val="1200"/>
              </a:spcAft>
              <a:defRPr sz="1800"/>
            </a:pPr>
            <a:r>
              <a:t>3. Architecture technique</a:t>
            </a:r>
          </a:p>
          <a:p>
            <a:pPr>
              <a:spcAft>
                <a:spcPts val="1200"/>
              </a:spcAft>
              <a:defRPr sz="1800"/>
            </a:pPr>
            <a:r>
              <a:t>4. Fonctionnalités développées</a:t>
            </a:r>
          </a:p>
          <a:p>
            <a:pPr>
              <a:spcAft>
                <a:spcPts val="1200"/>
              </a:spcAft>
              <a:defRPr sz="1800"/>
            </a:pPr>
            <a:r>
              <a:t>5. Résultats et performances</a:t>
            </a:r>
          </a:p>
          <a:p>
            <a:pPr>
              <a:spcAft>
                <a:spcPts val="1200"/>
              </a:spcAft>
              <a:defRPr sz="1800"/>
            </a:pPr>
            <a:r>
              <a:t>6. Difficultés rencontrées</a:t>
            </a:r>
          </a:p>
          <a:p>
            <a:pPr>
              <a:spcAft>
                <a:spcPts val="1200"/>
              </a:spcAft>
              <a:defRPr sz="1800"/>
            </a:pPr>
            <a:r>
              <a:t>7. Compétences acquises</a:t>
            </a:r>
          </a:p>
          <a:p>
            <a:pPr>
              <a:spcAft>
                <a:spcPts val="1200"/>
              </a:spcAft>
              <a:defRPr sz="1800"/>
            </a:pPr>
            <a:r>
              <a:t>8. 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📌 Projet: Excel Data Converter - AutoPCB</a:t>
            </a:r>
          </a:p>
          <a:p>
            <a:pPr>
              <a:spcAft>
                <a:spcPts val="1200"/>
              </a:spcAft>
              <a:defRPr sz="1800"/>
            </a:pPr>
            <a:r>
              <a:t>🏢 Entreprise: [À compléter]</a:t>
            </a:r>
          </a:p>
          <a:p>
            <a:pPr>
              <a:spcAft>
                <a:spcPts val="1200"/>
              </a:spcAft>
              <a:defRPr sz="1800"/>
            </a:pPr>
            <a:r>
              <a:t>⏱️ Durée: [À compléter]</a:t>
            </a:r>
          </a:p>
          <a:p>
            <a:pPr>
              <a:spcAft>
                <a:spcPts val="1200"/>
              </a:spcAft>
              <a:defRPr sz="1800"/>
            </a:pPr>
            <a:r>
              <a:t>👨‍💼 Encadrant: [À compléter]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🎯 Objectif:</a:t>
            </a:r>
          </a:p>
          <a:p>
            <a:pPr>
              <a:spcAft>
                <a:spcPts val="1200"/>
              </a:spcAft>
              <a:defRPr sz="1800"/>
            </a:pPr>
            <a:r>
              <a:t>Automatiser le traitement et la consolidation de données Excel</a:t>
            </a:r>
          </a:p>
          <a:p>
            <a:pPr>
              <a:spcAft>
                <a:spcPts val="1200"/>
              </a:spcAft>
              <a:defRPr sz="1800"/>
            </a:pPr>
            <a:r>
              <a:t>provenant de multiples sources (PCB, ABC, FB)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Contexte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📊 Situation Initiale:</a:t>
            </a:r>
          </a:p>
          <a:p>
            <a:pPr>
              <a:spcAft>
                <a:spcPts val="1000"/>
              </a:spcAft>
              <a:defRPr sz="1600"/>
            </a:pPr>
            <a:r>
              <a:t>• Traitement manuel de fichiers Excel</a:t>
            </a:r>
          </a:p>
          <a:p>
            <a:pPr>
              <a:spcAft>
                <a:spcPts val="1000"/>
              </a:spcAft>
              <a:defRPr sz="1600"/>
            </a:pPr>
            <a:r>
              <a:t>• Données dispersées (PCB, ABC, FB)</a:t>
            </a:r>
          </a:p>
          <a:p>
            <a:pPr>
              <a:spcAft>
                <a:spcPts val="1000"/>
              </a:spcAft>
              <a:defRPr sz="1600"/>
            </a:pPr>
            <a:r>
              <a:t>• Recherches répétitives (VLOOKUP)</a:t>
            </a:r>
          </a:p>
          <a:p>
            <a:pPr>
              <a:spcAft>
                <a:spcPts val="1000"/>
              </a:spcAft>
              <a:defRPr sz="1600"/>
            </a:pPr>
            <a:r>
              <a:t>• Calculs manuels</a:t>
            </a:r>
          </a:p>
          <a:p>
            <a:pPr>
              <a:spcAft>
                <a:spcPts val="1000"/>
              </a:spcAft>
              <a:defRPr sz="1600"/>
            </a:pPr>
            <a:r>
              <a:t>• Risques d'erreurs humaines</a:t>
            </a:r>
          </a:p>
          <a:p>
            <a:pPr>
              <a:spcAft>
                <a:spcPts val="1000"/>
              </a:spcAft>
              <a:defRPr sz="1600"/>
            </a:pPr>
            <a:r>
              <a:t>• Temps de traitement 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✅ Besoin Identifié:</a:t>
            </a:r>
          </a:p>
          <a:p>
            <a:pPr>
              <a:spcAft>
                <a:spcPts val="1000"/>
              </a:spcAft>
              <a:defRPr sz="1600"/>
            </a:pPr>
            <a:r>
              <a:t>• Lire et consolider les données</a:t>
            </a:r>
          </a:p>
          <a:p>
            <a:pPr>
              <a:spcAft>
                <a:spcPts val="1000"/>
              </a:spcAft>
              <a:defRPr sz="1600"/>
            </a:pPr>
            <a:r>
              <a:t>• Recherches automatiques</a:t>
            </a:r>
          </a:p>
          <a:p>
            <a:pPr>
              <a:spcAft>
                <a:spcPts val="1000"/>
              </a:spcAft>
              <a:defRPr sz="1600"/>
            </a:pPr>
            <a:r>
              <a:t>• Calculs automatisés (WLOM, FB, MAX)</a:t>
            </a:r>
          </a:p>
          <a:p>
            <a:pPr>
              <a:spcAft>
                <a:spcPts val="1000"/>
              </a:spcAft>
              <a:defRPr sz="1600"/>
            </a:pPr>
            <a:r>
              <a:t>• Génération de fichier de sortie</a:t>
            </a:r>
          </a:p>
          <a:p>
            <a:pPr>
              <a:spcAft>
                <a:spcPts val="1000"/>
              </a:spcAft>
              <a:defRPr sz="1600"/>
            </a:pPr>
            <a:r>
              <a:t>• Réduction des erreurs</a:t>
            </a:r>
          </a:p>
          <a:p>
            <a:pPr>
              <a:spcAft>
                <a:spcPts val="1000"/>
              </a:spcAft>
              <a:defRPr sz="1600"/>
            </a:pPr>
            <a:r>
              <a:t>• Gain de temps significatif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🔧 Défis Techniques:</a:t>
            </a:r>
          </a:p>
          <a:p>
            <a:pPr>
              <a:spcAft>
                <a:spcPts val="1200"/>
              </a:spcAft>
              <a:defRPr sz="1800"/>
            </a:pPr>
            <a:r>
              <a:t>• Gestion de multiples formats Excel (.xls, .xlsx)</a:t>
            </a:r>
          </a:p>
          <a:p>
            <a:pPr>
              <a:spcAft>
                <a:spcPts val="1200"/>
              </a:spcAft>
              <a:defRPr sz="1800"/>
            </a:pPr>
            <a:r>
              <a:t>• Performance: traitement de milliers de lignes</a:t>
            </a:r>
          </a:p>
          <a:p>
            <a:pPr>
              <a:spcAft>
                <a:spcPts val="1200"/>
              </a:spcAft>
              <a:defRPr sz="1800"/>
            </a:pPr>
            <a:r>
              <a:t>• Intégrité des données: validation et cohérence</a:t>
            </a:r>
          </a:p>
          <a:p>
            <a:pPr>
              <a:spcAft>
                <a:spcPts val="1200"/>
              </a:spcAft>
              <a:defRPr sz="1800"/>
            </a:pPr>
            <a:r>
              <a:t>• Recherches croisées entre 3 fichiers différents</a:t>
            </a:r>
          </a:p>
          <a:p>
            <a:pPr>
              <a:spcAft>
                <a:spcPts val="1200"/>
              </a:spcAft>
              <a:defRPr sz="1800"/>
            </a:pPr>
            <a:r>
              <a:t>• Calculs automatiques complexes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⚠️ Contraintes:</a:t>
            </a:r>
          </a:p>
          <a:p>
            <a:pPr>
              <a:spcAft>
                <a:spcPts val="1200"/>
              </a:spcAft>
              <a:defRPr sz="1800"/>
            </a:pPr>
            <a:r>
              <a:t>• Compatibilité avec systèmes existants</a:t>
            </a:r>
          </a:p>
          <a:p>
            <a:pPr>
              <a:spcAft>
                <a:spcPts val="1200"/>
              </a:spcAft>
              <a:defRPr sz="1800"/>
            </a:pPr>
            <a:r>
              <a:t>• Rapidité d'exécution</a:t>
            </a:r>
          </a:p>
          <a:p>
            <a:pPr>
              <a:spcAft>
                <a:spcPts val="1200"/>
              </a:spcAft>
              <a:defRPr sz="1800"/>
            </a:pPr>
            <a:r>
              <a:t>• Facilité d'utilisation</a:t>
            </a:r>
          </a:p>
          <a:p>
            <a:pPr>
              <a:spcAft>
                <a:spcPts val="1200"/>
              </a:spcAft>
              <a:defRPr sz="1800"/>
            </a:pPr>
            <a:r>
              <a:t>• Gestion robuste des erreurs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💻 Technologies Utilisées: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Backend (C):</a:t>
            </a:r>
          </a:p>
          <a:p>
            <a:pPr>
              <a:spcAft>
                <a:spcPts val="1200"/>
              </a:spcAft>
              <a:defRPr sz="1800"/>
            </a:pPr>
            <a:r>
              <a:t>• xlsxio: Lecture de fichiers Excel</a:t>
            </a:r>
          </a:p>
          <a:p>
            <a:pPr>
              <a:spcAft>
                <a:spcPts val="1200"/>
              </a:spcAft>
              <a:defRPr sz="1800"/>
            </a:pPr>
            <a:r>
              <a:t>• xlsxwriter: Génération de fichiers Excel</a:t>
            </a:r>
          </a:p>
          <a:p>
            <a:pPr>
              <a:spcAft>
                <a:spcPts val="1200"/>
              </a:spcAft>
              <a:defRPr sz="1800"/>
            </a:pPr>
            <a:r>
              <a:t>• Hash tables: Optimisation des recherches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Scripts Python:</a:t>
            </a:r>
          </a:p>
          <a:p>
            <a:pPr>
              <a:spcAft>
                <a:spcPts val="1200"/>
              </a:spcAft>
              <a:defRPr sz="1800"/>
            </a:pPr>
            <a:r>
              <a:t>• pandas: Manipulation de données</a:t>
            </a:r>
          </a:p>
          <a:p>
            <a:pPr>
              <a:spcAft>
                <a:spcPts val="1200"/>
              </a:spcAft>
              <a:defRPr sz="1800"/>
            </a:pPr>
            <a:r>
              <a:t>• openpyxl: Traitement Excel avancé</a:t>
            </a:r>
          </a:p>
          <a:p>
            <a:pPr>
              <a:spcAft>
                <a:spcPts val="1200"/>
              </a:spcAft>
              <a:defRPr sz="1800"/>
            </a:pPr>
            <a:r>
              <a:t>• sqlite3: Base de données intermédiaire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Workflow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📥 Entrée: Fichiers Excel (PCB.xlsx, ABC.xlsx, FB.xlsx)</a:t>
            </a:r>
          </a:p>
          <a:p>
            <a:pPr>
              <a:spcAft>
                <a:spcPts val="1200"/>
              </a:spcAft>
              <a:defRPr sz="1800"/>
            </a:pPr>
            <a:r>
              <a:t>    ⬇️</a:t>
            </a:r>
          </a:p>
          <a:p>
            <a:pPr>
              <a:spcAft>
                <a:spcPts val="1200"/>
              </a:spcAft>
              <a:defRPr sz="1800"/>
            </a:pPr>
            <a:r>
              <a:t>🔄 Export Python → SQLite (data.db)</a:t>
            </a:r>
          </a:p>
          <a:p>
            <a:pPr>
              <a:spcAft>
                <a:spcPts val="1200"/>
              </a:spcAft>
              <a:defRPr sz="1800"/>
            </a:pPr>
            <a:r>
              <a:t>    ⬇️</a:t>
            </a:r>
          </a:p>
          <a:p>
            <a:pPr>
              <a:spcAft>
                <a:spcPts val="1200"/>
              </a:spcAft>
              <a:defRPr sz="1800"/>
            </a:pPr>
            <a:r>
              <a:t>⚙️ Programme C:</a:t>
            </a:r>
          </a:p>
          <a:p>
            <a:pPr>
              <a:spcAft>
                <a:spcPts val="1200"/>
              </a:spcAft>
              <a:defRPr sz="1800"/>
            </a:pPr>
            <a:r>
              <a:t>    • Lecture des données</a:t>
            </a:r>
          </a:p>
          <a:p>
            <a:pPr>
              <a:spcAft>
                <a:spcPts val="1200"/>
              </a:spcAft>
              <a:defRPr sz="1800"/>
            </a:pPr>
            <a:r>
              <a:t>    • Hash tables pour cache</a:t>
            </a:r>
          </a:p>
          <a:p>
            <a:pPr>
              <a:spcAft>
                <a:spcPts val="1200"/>
              </a:spcAft>
              <a:defRPr sz="1800"/>
            </a:pPr>
            <a:r>
              <a:t>    • Recherches WLOM et FB</a:t>
            </a:r>
          </a:p>
          <a:p>
            <a:pPr>
              <a:spcAft>
                <a:spcPts val="1200"/>
              </a:spcAft>
              <a:defRPr sz="1800"/>
            </a:pPr>
            <a:r>
              <a:t>    • Calculs MAX et couverture</a:t>
            </a:r>
          </a:p>
          <a:p>
            <a:pPr>
              <a:spcAft>
                <a:spcPts val="1200"/>
              </a:spcAft>
              <a:defRPr sz="1800"/>
            </a:pPr>
            <a:r>
              <a:t>    ⬇️</a:t>
            </a:r>
          </a:p>
          <a:p>
            <a:pPr>
              <a:spcAft>
                <a:spcPts val="1200"/>
              </a:spcAft>
              <a:defRPr sz="1800"/>
            </a:pPr>
            <a:r>
              <a:t>📤 Sortie: output.xlsx (données consolidées)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Fonctionnalités: Hash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Optimisation: Cache en mémoire avec hash tables pour recherches rapides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384048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typedef struct fb_hash_entry {</a:t>
            </a:r>
          </a:p>
          <a:p>
            <a:r>
              <a:t>    char* ref;</a:t>
            </a:r>
          </a:p>
          <a:p>
            <a:r>
              <a:t>    char* value;</a:t>
            </a:r>
          </a:p>
          <a:p>
            <a:r>
              <a:t>    struct fb_hash_entry* next;</a:t>
            </a:r>
          </a:p>
          <a:p>
            <a:r>
              <a:t>} fb_hash_entry;</a:t>
            </a:r>
          </a:p>
          <a:p/>
          <a:p>
            <a:r>
              <a:t>static fb_hash_entry* fb_hash_table[HASH_SIZE];</a:t>
            </a:r>
          </a:p>
          <a:p/>
          <a:p>
            <a:r>
              <a:t>// Recherche en O(1) au lieu de O(n)</a:t>
            </a:r>
          </a:p>
          <a:p>
            <a:r>
              <a:t>char* get_fb_value_by_widf(const char* widf) {</a:t>
            </a:r>
          </a:p>
          <a:p>
            <a:r>
              <a:t>    unsigned int hash = hash_string(widf);</a:t>
            </a:r>
          </a:p>
          <a:p>
            <a:r>
              <a:t>    fb_hash_entry* entry = fb_hash_table[hash];</a:t>
            </a:r>
          </a:p>
          <a:p>
            <a:r>
              <a:t>    while (entry) {</a:t>
            </a:r>
          </a:p>
          <a:p>
            <a:r>
              <a:t>        if (strcmp(entry-&gt;ref, widf) == 0)</a:t>
            </a:r>
          </a:p>
          <a:p>
            <a:r>
              <a:t>            return strdup(entry-&gt;value);</a:t>
            </a:r>
          </a:p>
          <a:p>
            <a:r>
              <a:t>        entry = entry-&gt;next;</a:t>
            </a:r>
          </a:p>
          <a:p>
            <a:r>
              <a:t>    }</a:t>
            </a:r>
          </a:p>
          <a:p>
            <a:r>
              <a:t>    return NULL;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Fonctionnalités: Recherche WLOM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🔍 Recherche dans ABC.xlsx:</a:t>
            </a:r>
          </a:p>
          <a:p>
            <a:pPr>
              <a:spcAft>
                <a:spcPts val="1200"/>
              </a:spcAft>
              <a:defRPr sz="1800"/>
            </a:pPr>
            <a:r>
              <a:t>• Correspondance: WKIDF (ABC) = WIDF (PCB)</a:t>
            </a:r>
          </a:p>
          <a:p>
            <a:pPr>
              <a:spcAft>
                <a:spcPts val="1200"/>
              </a:spcAft>
              <a:defRPr sz="1800"/>
            </a:pPr>
            <a:r>
              <a:t>• Extraction de la valeur WKQCO</a:t>
            </a:r>
          </a:p>
          <a:p>
            <a:pPr>
              <a:spcAft>
                <a:spcPts val="1200"/>
              </a:spcAft>
              <a:defRPr sz="1800"/>
            </a:pPr>
            <a:r>
              <a:t>• Mise en cache pour performance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📊 Algorithme:</a:t>
            </a:r>
          </a:p>
          <a:p>
            <a:pPr>
              <a:spcAft>
                <a:spcPts val="1200"/>
              </a:spcAft>
              <a:defRPr sz="1800"/>
            </a:pPr>
            <a:r>
              <a:t>1. Charger ABC.xlsx dans hash table</a:t>
            </a:r>
          </a:p>
          <a:p>
            <a:pPr>
              <a:spcAft>
                <a:spcPts val="1200"/>
              </a:spcAft>
              <a:defRPr sz="1800"/>
            </a:pPr>
            <a:r>
              <a:t>2. Pour chaque ligne PCB:</a:t>
            </a:r>
          </a:p>
          <a:p>
            <a:pPr>
              <a:spcAft>
                <a:spcPts val="1200"/>
              </a:spcAft>
              <a:defRPr sz="1800"/>
            </a:pPr>
            <a:r>
              <a:t>   - Récupérer WIDF</a:t>
            </a:r>
          </a:p>
          <a:p>
            <a:pPr>
              <a:spcAft>
                <a:spcPts val="1200"/>
              </a:spcAft>
              <a:defRPr sz="1800"/>
            </a:pPr>
            <a:r>
              <a:t>   - Chercher dans hash table ABC</a:t>
            </a:r>
          </a:p>
          <a:p>
            <a:pPr>
              <a:spcAft>
                <a:spcPts val="1200"/>
              </a:spcAft>
              <a:defRPr sz="1800"/>
            </a:pPr>
            <a:r>
              <a:t>   - Écrire WLOM dans output.xlsx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⚡ Complexité: O(1) par recherche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Fonctionnalités: Détection de Semaine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Détection automatique de la semaine courante pour recherche dans FB.xlsx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384048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int get_current_week() {</a:t>
            </a:r>
          </a:p>
          <a:p>
            <a:r>
              <a:t>    time_t now = time(NULL);</a:t>
            </a:r>
          </a:p>
          <a:p>
            <a:r>
              <a:t>    struct tm *tm_info = localtime(&amp;now);</a:t>
            </a:r>
          </a:p>
          <a:p>
            <a:r>
              <a:t>    int day_of_year = tm_info-&gt;tm_yday + 1;</a:t>
            </a:r>
          </a:p>
          <a:p>
            <a:r>
              <a:t>    int week = (day_of_year + 6) / 7;</a:t>
            </a:r>
          </a:p>
          <a:p>
            <a:r>
              <a:t>    return week;</a:t>
            </a:r>
          </a:p>
          <a:p>
            <a:r>
              <a:t>}</a:t>
            </a:r>
          </a:p>
          <a:p/>
          <a:p>
            <a:r>
              <a:t>// Recherche FB avec fallback</a:t>
            </a:r>
          </a:p>
          <a:p>
            <a:r>
              <a:t>char* get_fb_value_by_widf(const char* widf, int week) {</a:t>
            </a:r>
          </a:p>
          <a:p>
            <a:r>
              <a:t>    // Cherche dans la colonne de la semaine courante</a:t>
            </a:r>
          </a:p>
          <a:p>
            <a:r>
              <a:t>    // Si non trouvée, utilise première semaine disponible</a:t>
            </a:r>
          </a:p>
          <a:p>
            <a:r>
              <a:t>    ...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Fonctionnalités: Calcul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Calcul du maximum entre FB et WCMJ avec gestion des valeurs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384048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char* get_max_value(const char* fb_value, </a:t>
            </a:r>
          </a:p>
          <a:p>
            <a:r>
              <a:t>                    const char* wcmj_value) {</a:t>
            </a:r>
          </a:p>
          <a:p>
            <a:r>
              <a:t>    if (!fb_value &amp;&amp; !wcmj_value)</a:t>
            </a:r>
          </a:p>
          <a:p>
            <a:r>
              <a:t>        return NULL;</a:t>
            </a:r>
          </a:p>
          <a:p>
            <a:r>
              <a:t>    if (!fb_value)</a:t>
            </a:r>
          </a:p>
          <a:p>
            <a:r>
              <a:t>        return strdup(wcmj_value);</a:t>
            </a:r>
          </a:p>
          <a:p>
            <a:r>
              <a:t>    if (!wcmj_value)</a:t>
            </a:r>
          </a:p>
          <a:p>
            <a:r>
              <a:t>        return strdup(fb_value);</a:t>
            </a:r>
          </a:p>
          <a:p>
            <a:r>
              <a:t>    </a:t>
            </a:r>
          </a:p>
          <a:p>
            <a:r>
              <a:t>    double fb_num = atof(fb_value);</a:t>
            </a:r>
          </a:p>
          <a:p>
            <a:r>
              <a:t>    double wcmj_num = atof(wcmj_value);</a:t>
            </a:r>
          </a:p>
          <a:p>
            <a:r>
              <a:t>    </a:t>
            </a:r>
          </a:p>
          <a:p>
            <a:r>
              <a:t>    return (fb_num &gt;= wcmj_num) ? </a:t>
            </a:r>
          </a:p>
          <a:p>
            <a:r>
              <a:t>           strdup(fb_value) : strdup(wcmj_value);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6. Résultats et Performances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📊 Métriques de Performance: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Avant (Traitement Manuel):</a:t>
            </a:r>
          </a:p>
          <a:p>
            <a:pPr>
              <a:spcAft>
                <a:spcPts val="1200"/>
              </a:spcAft>
              <a:defRPr sz="1800"/>
            </a:pPr>
            <a:r>
              <a:t>• Temps: 2-3 heures par fichier</a:t>
            </a:r>
          </a:p>
          <a:p>
            <a:pPr>
              <a:spcAft>
                <a:spcPts val="1200"/>
              </a:spcAft>
              <a:defRPr sz="1800"/>
            </a:pPr>
            <a:r>
              <a:t>• Erreurs: ~5-10% de taux d'erreur</a:t>
            </a:r>
          </a:p>
          <a:p>
            <a:pPr>
              <a:spcAft>
                <a:spcPts val="1200"/>
              </a:spcAft>
              <a:defRPr sz="1800"/>
            </a:pPr>
            <a:r>
              <a:t>• Capacité: ~1000 lignes maximum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Après (Automatisation):</a:t>
            </a:r>
          </a:p>
          <a:p>
            <a:pPr>
              <a:spcAft>
                <a:spcPts val="1200"/>
              </a:spcAft>
              <a:defRPr sz="1800"/>
            </a:pPr>
            <a:r>
              <a:t>• Temps: 5-10 secondes ⚡</a:t>
            </a:r>
          </a:p>
          <a:p>
            <a:pPr>
              <a:spcAft>
                <a:spcPts val="1200"/>
              </a:spcAft>
              <a:defRPr sz="1800"/>
            </a:pPr>
            <a:r>
              <a:t>• Erreurs: &lt;0.1% ✅</a:t>
            </a:r>
          </a:p>
          <a:p>
            <a:pPr>
              <a:spcAft>
                <a:spcPts val="1200"/>
              </a:spcAft>
              <a:defRPr sz="1800"/>
            </a:pPr>
            <a:r>
              <a:t>• Capacité: Illimitée (testé 50,000 lignes) 🚀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🎯 Amélioration: 99.86% de gain de temps!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6. Gains Mesurables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📈 Comparaison Avant/Après: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Temps de traitement:</a:t>
            </a:r>
          </a:p>
          <a:p>
            <a:pPr>
              <a:spcAft>
                <a:spcPts val="1200"/>
              </a:spcAft>
              <a:defRPr sz="1800"/>
            </a:pPr>
            <a:r>
              <a:t>  2 heures → 10 secondes (99.86% d'amélioration)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Taux d'erreur:</a:t>
            </a:r>
          </a:p>
          <a:p>
            <a:pPr>
              <a:spcAft>
                <a:spcPts val="1200"/>
              </a:spcAft>
              <a:defRPr sz="1800"/>
            </a:pPr>
            <a:r>
              <a:t>  5% → 0.1% (98% de réduction)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Productivité:</a:t>
            </a:r>
          </a:p>
          <a:p>
            <a:pPr>
              <a:spcAft>
                <a:spcPts val="1200"/>
              </a:spcAft>
              <a:defRPr sz="1800"/>
            </a:pPr>
            <a:r>
              <a:t>  1 fichier/jour → 50+ fichiers/jour (5000% d'augmentation)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💡 Impact: Libération de temps pour tâches à valeur ajoutée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7. Difficultés Rencontrées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⚠️ Problèmes: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1. Formats Excel variés</a:t>
            </a:r>
          </a:p>
          <a:p>
            <a:pPr>
              <a:spcAft>
                <a:spcPts val="1000"/>
              </a:spcAft>
              <a:defRPr sz="1600"/>
            </a:pPr>
            <a:r>
              <a:t>   (.xls vs .xlsx)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2. Performance avec grands fichiers</a:t>
            </a:r>
          </a:p>
          <a:p>
            <a:pPr>
              <a:spcAft>
                <a:spcPts val="1000"/>
              </a:spcAft>
              <a:defRPr sz="1600"/>
            </a:pPr>
            <a:r>
              <a:t>   (&gt;10,000 lignes)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3. Gestion mémoire</a:t>
            </a:r>
          </a:p>
          <a:p>
            <a:pPr>
              <a:spcAft>
                <a:spcPts val="1000"/>
              </a:spcAft>
              <a:defRPr sz="1600"/>
            </a:pPr>
            <a:r>
              <a:t>   (fuites potentielles)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4. Détection de semaine</a:t>
            </a:r>
          </a:p>
          <a:p>
            <a:pPr>
              <a:spcAft>
                <a:spcPts val="1000"/>
              </a:spcAft>
              <a:defRPr sz="1600"/>
            </a:pPr>
            <a:r>
              <a:t>   (semaine absente dans FB)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✅ Solutions: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1. Détection automatique</a:t>
            </a:r>
          </a:p>
          <a:p>
            <a:pPr>
              <a:spcAft>
                <a:spcPts val="1000"/>
              </a:spcAft>
              <a:defRPr sz="1600"/>
            </a:pPr>
            <a:r>
              <a:t>   + mapping colonnes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2. Hash tables</a:t>
            </a:r>
          </a:p>
          <a:p>
            <a:pPr>
              <a:spcAft>
                <a:spcPts val="1000"/>
              </a:spcAft>
              <a:defRPr sz="1600"/>
            </a:pPr>
            <a:r>
              <a:t>   + mise en cache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3. Fonctions de nettoyage</a:t>
            </a:r>
          </a:p>
          <a:p>
            <a:pPr>
              <a:spcAft>
                <a:spcPts val="1000"/>
              </a:spcAft>
              <a:defRPr sz="1600"/>
            </a:pPr>
            <a:r>
              <a:t>   systématiques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4. Fallback sur première</a:t>
            </a:r>
          </a:p>
          <a:p>
            <a:pPr>
              <a:spcAft>
                <a:spcPts val="1000"/>
              </a:spcAft>
              <a:defRPr sz="1600"/>
            </a:pPr>
            <a:r>
              <a:t>   semaine disponible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8. Compétences Acquises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💻 Compétences Techniques: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Programmation C:</a:t>
            </a:r>
          </a:p>
          <a:p>
            <a:pPr>
              <a:spcAft>
                <a:spcPts val="1000"/>
              </a:spcAft>
              <a:defRPr sz="1600"/>
            </a:pPr>
            <a:r>
              <a:t>• Structures de données complexes</a:t>
            </a:r>
          </a:p>
          <a:p>
            <a:pPr>
              <a:spcAft>
                <a:spcPts val="1000"/>
              </a:spcAft>
              <a:defRPr sz="1600"/>
            </a:pPr>
            <a:r>
              <a:t>• Gestion mémoire avancée</a:t>
            </a:r>
          </a:p>
          <a:p>
            <a:pPr>
              <a:spcAft>
                <a:spcPts val="1000"/>
              </a:spcAft>
              <a:defRPr sz="1600"/>
            </a:pPr>
            <a:r>
              <a:t>• Bibliothèques externes</a:t>
            </a:r>
          </a:p>
          <a:p>
            <a:pPr>
              <a:spcAft>
                <a:spcPts val="1000"/>
              </a:spcAft>
              <a:defRPr sz="1600"/>
            </a:pPr>
            <a:r>
              <a:t>• Optimisation algorithmique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Python:</a:t>
            </a:r>
          </a:p>
          <a:p>
            <a:pPr>
              <a:spcAft>
                <a:spcPts val="1000"/>
              </a:spcAft>
              <a:defRPr sz="1600"/>
            </a:pPr>
            <a:r>
              <a:t>• Manipulation de données (pandas)</a:t>
            </a:r>
          </a:p>
          <a:p>
            <a:pPr>
              <a:spcAft>
                <a:spcPts val="1000"/>
              </a:spcAft>
              <a:defRPr sz="1600"/>
            </a:pPr>
            <a:r>
              <a:t>• Traitement Excel (openpyxl)</a:t>
            </a:r>
          </a:p>
          <a:p>
            <a:pPr>
              <a:spcAft>
                <a:spcPts val="1000"/>
              </a:spcAft>
              <a:defRPr sz="1600"/>
            </a:pPr>
            <a:r>
              <a:t>• Intégration SQLite</a:t>
            </a:r>
          </a:p>
          <a:p>
            <a:pPr>
              <a:spcAft>
                <a:spcPts val="1000"/>
              </a:spcAft>
              <a:defRPr sz="1600"/>
            </a:pPr>
            <a:r>
              <a:t>• Scripts d'automatisation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/>
            </a:pPr>
            <a:r>
              <a:t>🎯 Compétences Transversales: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Méthodologie:</a:t>
            </a:r>
          </a:p>
          <a:p>
            <a:pPr>
              <a:spcAft>
                <a:spcPts val="1000"/>
              </a:spcAft>
              <a:defRPr sz="1600"/>
            </a:pPr>
            <a:r>
              <a:t>• Analyse de besoins</a:t>
            </a:r>
          </a:p>
          <a:p>
            <a:pPr>
              <a:spcAft>
                <a:spcPts val="1000"/>
              </a:spcAft>
              <a:defRPr sz="1600"/>
            </a:pPr>
            <a:r>
              <a:t>• Conception d'architecture</a:t>
            </a:r>
          </a:p>
          <a:p>
            <a:pPr>
              <a:spcAft>
                <a:spcPts val="1000"/>
              </a:spcAft>
              <a:defRPr sz="1600"/>
            </a:pPr>
            <a:r>
              <a:t>• Tests et validation</a:t>
            </a:r>
          </a:p>
          <a:p>
            <a:pPr>
              <a:spcAft>
                <a:spcPts val="1000"/>
              </a:spcAft>
              <a:defRPr sz="1600"/>
            </a:pPr>
            <a:r>
              <a:t>• Documentation technique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Gestion de Projet:</a:t>
            </a:r>
          </a:p>
          <a:p>
            <a:pPr>
              <a:spcAft>
                <a:spcPts val="1000"/>
              </a:spcAft>
              <a:defRPr sz="1600"/>
            </a:pPr>
            <a:r>
              <a:t>• Planification des tâches</a:t>
            </a:r>
          </a:p>
          <a:p>
            <a:pPr>
              <a:spcAft>
                <a:spcPts val="1000"/>
              </a:spcAft>
              <a:defRPr sz="1600"/>
            </a:pPr>
            <a:r>
              <a:t>• Résolution de problèmes</a:t>
            </a:r>
          </a:p>
          <a:p>
            <a:pPr>
              <a:spcAft>
                <a:spcPts val="1000"/>
              </a:spcAft>
              <a:defRPr sz="1600"/>
            </a:pPr>
            <a:r>
              <a:t>• Communication technique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Objectifs Atteints:</a:t>
            </a:r>
          </a:p>
          <a:p>
            <a:pPr>
              <a:spcAft>
                <a:spcPts val="1200"/>
              </a:spcAft>
              <a:defRPr sz="1800"/>
            </a:pPr>
            <a:r>
              <a:t>• Automatisation complète du traitement</a:t>
            </a:r>
          </a:p>
          <a:p>
            <a:pPr>
              <a:spcAft>
                <a:spcPts val="1200"/>
              </a:spcAft>
              <a:defRPr sz="1800"/>
            </a:pPr>
            <a:r>
              <a:t>• Gain de temps significatif (99.86%)</a:t>
            </a:r>
          </a:p>
          <a:p>
            <a:pPr>
              <a:spcAft>
                <a:spcPts val="1200"/>
              </a:spcAft>
              <a:defRPr sz="1800"/>
            </a:pPr>
            <a:r>
              <a:t>• Réduction drastique des erreurs</a:t>
            </a:r>
          </a:p>
          <a:p>
            <a:pPr>
              <a:spcAft>
                <a:spcPts val="1200"/>
              </a:spcAft>
              <a:defRPr sz="1800"/>
            </a:pPr>
            <a:r>
              <a:t>• Solution robuste et maintenable</a:t>
            </a:r>
          </a:p>
          <a:p>
            <a:pPr>
              <a:spcAft>
                <a:spcPts val="1200"/>
              </a:spcAft>
              <a:defRPr sz="1800"/>
            </a:pPr>
            <a:r>
              <a:t>• Documentation complète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💡 Apport Personnel:</a:t>
            </a:r>
          </a:p>
          <a:p>
            <a:pPr>
              <a:spcAft>
                <a:spcPts val="1200"/>
              </a:spcAft>
              <a:defRPr sz="1800"/>
            </a:pPr>
            <a:r>
              <a:t>• Développement de compétences en programmation système</a:t>
            </a:r>
          </a:p>
          <a:p>
            <a:pPr>
              <a:spcAft>
                <a:spcPts val="1200"/>
              </a:spcAft>
              <a:defRPr sz="1800"/>
            </a:pPr>
            <a:r>
              <a:t>• Compréhension des enjeux de performance</a:t>
            </a:r>
          </a:p>
          <a:p>
            <a:pPr>
              <a:spcAft>
                <a:spcPts val="1200"/>
              </a:spcAft>
              <a:defRPr sz="1800"/>
            </a:pPr>
            <a:r>
              <a:t>• Travail sur un projet avec impact réel</a:t>
            </a:r>
          </a:p>
          <a:p>
            <a:pPr>
              <a:spcAft>
                <a:spcPts val="1200"/>
              </a:spcAft>
              <a:defRPr sz="1800"/>
            </a:pPr>
            <a:r>
              <a:t>• Apprentissage de l'optimisation de code critique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10. Perspectives d'Amélioration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🔮 Court Terme:</a:t>
            </a:r>
          </a:p>
          <a:p>
            <a:pPr>
              <a:spcAft>
                <a:spcPts val="1200"/>
              </a:spcAft>
              <a:defRPr sz="1800"/>
            </a:pPr>
            <a:r>
              <a:t>• Interface graphique (GUI)</a:t>
            </a:r>
          </a:p>
          <a:p>
            <a:pPr>
              <a:spcAft>
                <a:spcPts val="1200"/>
              </a:spcAft>
              <a:defRPr sz="1800"/>
            </a:pPr>
            <a:r>
              <a:t>• Rapports d'erreurs détaillés</a:t>
            </a:r>
          </a:p>
          <a:p>
            <a:pPr>
              <a:spcAft>
                <a:spcPts val="1200"/>
              </a:spcAft>
              <a:defRPr sz="1800"/>
            </a:pPr>
            <a:r>
              <a:t>• Configuration via fichier JSON</a:t>
            </a:r>
          </a:p>
          <a:p>
            <a:pPr>
              <a:spcAft>
                <a:spcPts val="1200"/>
              </a:spcAft>
              <a:defRPr sz="1800"/>
            </a:pPr>
            <a:r>
              <a:t>• Support de formats supplémentaires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🚀 Moyen/Long Terme:</a:t>
            </a:r>
          </a:p>
          <a:p>
            <a:pPr>
              <a:spcAft>
                <a:spcPts val="1200"/>
              </a:spcAft>
              <a:defRPr sz="1800"/>
            </a:pPr>
            <a:r>
              <a:t>• API REST pour intégration</a:t>
            </a:r>
          </a:p>
          <a:p>
            <a:pPr>
              <a:spcAft>
                <a:spcPts val="1200"/>
              </a:spcAft>
              <a:defRPr sz="1800"/>
            </a:pPr>
            <a:r>
              <a:t>• Traitement parallèle multi-thread</a:t>
            </a:r>
          </a:p>
          <a:p>
            <a:pPr>
              <a:spcAft>
                <a:spcPts val="1200"/>
              </a:spcAft>
              <a:defRPr sz="1800"/>
            </a:pPr>
            <a:r>
              <a:t>• Dashboard de monitoring</a:t>
            </a:r>
          </a:p>
          <a:p>
            <a:pPr>
              <a:spcAft>
                <a:spcPts val="1200"/>
              </a:spcAft>
              <a:defRPr sz="1800"/>
            </a:pPr>
            <a:r>
              <a:t>• Machine Learning pour détection d'anomalies</a:t>
            </a:r>
          </a:p>
          <a:p>
            <a:pPr>
              <a:spcAft>
                <a:spcPts val="1200"/>
              </a:spcAft>
              <a:defRPr sz="1800"/>
            </a:pPr>
            <a:r>
              <a:t>• Déploiement Cloud</a:t>
            </a:r>
          </a:p>
          <a:p>
            <a:pPr>
              <a:spcAft>
                <a:spcPts val="1200"/>
              </a:spcAft>
              <a:defRPr sz="1800"/>
            </a:pPr>
            <a:r>
              <a:t>• Intégration ERP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Merci de votre attention 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📧 Email: [votre.email@example.com]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💼 LinkedIn: [Votre profil]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🐙 GitHub: [Votre repository]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📁 Projet: Excel Data Converter - AutoPCB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🔗 Repository: [URL du projet]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Annexe: Structure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📁 AutoPCB/</a:t>
            </a:r>
          </a:p>
          <a:p>
            <a:pPr>
              <a:spcAft>
                <a:spcPts val="1200"/>
              </a:spcAft>
              <a:defRPr sz="1800"/>
            </a:pPr>
            <a:r>
              <a:t>  ├── main.c                    # Orchestrateur principal</a:t>
            </a:r>
          </a:p>
          <a:p>
            <a:pPr>
              <a:spcAft>
                <a:spcPts val="1200"/>
              </a:spcAft>
              <a:defRPr sz="1800"/>
            </a:pPr>
            <a:r>
              <a:t>  ├── modif.c                   # Programme de traitement</a:t>
            </a:r>
          </a:p>
          <a:p>
            <a:pPr>
              <a:spcAft>
                <a:spcPts val="1200"/>
              </a:spcAft>
              <a:defRPr sz="1800"/>
            </a:pPr>
            <a:r>
              <a:t>  ├── export_sqlite_to_xlsx.py  # Export SQLite → Excel</a:t>
            </a:r>
          </a:p>
          <a:p>
            <a:pPr>
              <a:spcAft>
                <a:spcPts val="1200"/>
              </a:spcAft>
              <a:defRPr sz="1800"/>
            </a:pPr>
            <a:r>
              <a:t>  ├── Makefile                  # Compilation</a:t>
            </a:r>
          </a:p>
          <a:p>
            <a:pPr>
              <a:spcAft>
                <a:spcPts val="1200"/>
              </a:spcAft>
              <a:defRPr sz="1800"/>
            </a:pPr>
            <a:r>
              <a:t>  ├── requirements.txt          # Dépendances Python</a:t>
            </a:r>
          </a:p>
          <a:p>
            <a:pPr>
              <a:spcAft>
                <a:spcPts val="1200"/>
              </a:spcAft>
              <a:defRPr sz="1800"/>
            </a:pPr>
            <a:r>
              <a:t>  ├── data.db                   # Base SQLite</a:t>
            </a:r>
          </a:p>
          <a:p>
            <a:pPr>
              <a:spcAft>
                <a:spcPts val="1200"/>
              </a:spcAft>
              <a:defRPr sz="1800"/>
            </a:pPr>
            <a:r>
              <a:t>  ├── README.md                 # Documentation</a:t>
            </a:r>
          </a:p>
          <a:p>
            <a:pPr>
              <a:spcAft>
                <a:spcPts val="1200"/>
              </a:spcAft>
              <a:defRPr sz="1800"/>
            </a:pPr>
            <a:r>
              <a:t>  └── input/                    # Fichiers d'entrée</a:t>
            </a:r>
          </a:p>
          <a:p>
            <a:pPr>
              <a:spcAft>
                <a:spcPts val="1200"/>
              </a:spcAft>
              <a:defRPr sz="1800"/>
            </a:pPr>
            <a:r>
              <a:t>      ├── PCB.xlsx</a:t>
            </a:r>
          </a:p>
          <a:p>
            <a:pPr>
              <a:spcAft>
                <a:spcPts val="1200"/>
              </a:spcAft>
              <a:defRPr sz="1800"/>
            </a:pPr>
            <a:r>
              <a:t>      ├── ABC.xlsx</a:t>
            </a:r>
          </a:p>
          <a:p>
            <a:pPr>
              <a:spcAft>
                <a:spcPts val="1200"/>
              </a:spcAft>
              <a:defRPr sz="1800"/>
            </a:pPr>
            <a:r>
              <a:t>      └── FB.xlsx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Annexe: Commandes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Commandes essentielles pour utiliser le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384048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# Compilation</a:t>
            </a:r>
          </a:p>
          <a:p>
            <a:r>
              <a:t>make modif</a:t>
            </a:r>
          </a:p>
          <a:p/>
          <a:p>
            <a:r>
              <a:t># Exécution complète</a:t>
            </a:r>
          </a:p>
          <a:p>
            <a:r>
              <a:t>./main</a:t>
            </a:r>
          </a:p>
          <a:p/>
          <a:p>
            <a:r>
              <a:t># Export base de données</a:t>
            </a:r>
          </a:p>
          <a:p>
            <a:r>
              <a:t>python3 export_sqlite_to_xlsx.py</a:t>
            </a:r>
          </a:p>
          <a:p/>
          <a:p>
            <a:r>
              <a:t># Nettoyage</a:t>
            </a:r>
          </a:p>
          <a:p>
            <a:r>
              <a:t>make clean</a:t>
            </a:r>
          </a:p>
          <a:p/>
          <a:p>
            <a:r>
              <a:t># Installation des dépendances</a:t>
            </a:r>
          </a:p>
          <a:p>
            <a:r>
              <a:t>make install-deps</a:t>
            </a:r>
          </a:p>
          <a:p>
            <a:r>
              <a:t>pip3 install -r requirements.txt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